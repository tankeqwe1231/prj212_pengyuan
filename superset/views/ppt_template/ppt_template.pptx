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handoutMasterIdLst>
    <p:handoutMasterId r:id="rId3"/>
  </p:handoutMaster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in"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82126"/>
    <a:srgbClr val="E5E4DF"/>
    <a:srgbClr val="E6E6E6"/>
    <a:srgbClr val="EE3712"/>
    <a:srgbClr val="CD2F0F"/>
    <a:srgbClr val="D20000"/>
    <a:srgbClr val="D76C4A"/>
    <a:srgbClr val="667982"/>
    <a:srgbClr val="F7A79F"/>
    <a:srgbClr val="FF7D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73F72-0697-4C03-945D-46D308A67281}" v="281" dt="2025-06-09T09:52:31.89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82" autoAdjust="0"/>
    <p:restoredTop sz="90889" autoAdjust="0"/>
  </p:normalViewPr>
  <p:slideViewPr>
    <p:cSldViewPr snapToGrid="0">
      <p:cViewPr varScale="1">
        <p:scale>
          <a:sx n="114" d="100"/>
          <a:sy n="114" d="100"/>
        </p:scale>
        <p:origin x="852" y="108"/>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handoutMaster" Target="handoutMasters/handoutMaster1.xml"/><Relationship Id="rId7" Type="http://schemas.openxmlformats.org/officeDocument/2006/relationships/theme" Target="theme/theme1.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 Id="rId9"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4606" cy="574719"/>
          </a:xfrm>
          <a:prstGeom prst="rect">
            <a:avLst/>
          </a:prstGeom>
        </p:spPr>
        <p:txBody>
          <a:bodyPr vert="horz" lIns="91440" tIns="45720" rIns="91440" bIns="45720" rtlCol="0"/>
          <a:lstStyle>
            <a:lvl1pPr algn="l">
              <a:defRPr sz="1285"/>
            </a:lvl1pPr>
          </a:lstStyle>
          <a:p>
            <a:endParaRPr lang="zh-CN" altLang="en-US"/>
          </a:p>
        </p:txBody>
      </p:sp>
      <p:sp>
        <p:nvSpPr>
          <p:cNvPr id="3" name="日期占位符 2"/>
          <p:cNvSpPr>
            <a:spLocks noGrp="1"/>
          </p:cNvSpPr>
          <p:nvPr>
            <p:ph type="dt" sz="quarter" idx="1"/>
          </p:nvPr>
        </p:nvSpPr>
        <p:spPr>
          <a:xfrm>
            <a:off x="4162784" y="0"/>
            <a:ext cx="3184606" cy="574719"/>
          </a:xfrm>
          <a:prstGeom prst="rect">
            <a:avLst/>
          </a:prstGeom>
        </p:spPr>
        <p:txBody>
          <a:bodyPr vert="horz" lIns="91440" tIns="45720" rIns="91440" bIns="45720" rtlCol="0"/>
          <a:lstStyle>
            <a:lvl1pPr algn="r">
              <a:defRPr sz="1285"/>
            </a:lvl1pPr>
          </a:lstStyle>
          <a:p>
            <a:fld id="{0F9B84EA-7D68-4D60-9CB1-D50884785D1C}" type="datetimeFigureOut">
              <a:rPr lang="zh-CN" altLang="en-US" smtClean="0"/>
              <a:t>2025/7/9</a:t>
            </a:fld>
            <a:endParaRPr lang="zh-CN" altLang="en-US"/>
          </a:p>
        </p:txBody>
      </p:sp>
      <p:sp>
        <p:nvSpPr>
          <p:cNvPr id="4" name="页脚占位符 3"/>
          <p:cNvSpPr>
            <a:spLocks noGrp="1"/>
          </p:cNvSpPr>
          <p:nvPr>
            <p:ph type="ftr" sz="quarter" idx="2"/>
          </p:nvPr>
        </p:nvSpPr>
        <p:spPr>
          <a:xfrm>
            <a:off x="0" y="10879875"/>
            <a:ext cx="3184606" cy="574718"/>
          </a:xfrm>
          <a:prstGeom prst="rect">
            <a:avLst/>
          </a:prstGeom>
        </p:spPr>
        <p:txBody>
          <a:bodyPr vert="horz" lIns="91440" tIns="45720" rIns="91440" bIns="45720" rtlCol="0" anchor="b"/>
          <a:lstStyle>
            <a:lvl1pPr algn="l">
              <a:defRPr sz="1285"/>
            </a:lvl1pPr>
          </a:lstStyle>
          <a:p>
            <a:endParaRPr lang="zh-CN" altLang="en-US"/>
          </a:p>
        </p:txBody>
      </p:sp>
      <p:sp>
        <p:nvSpPr>
          <p:cNvPr id="5" name="灯片编号占位符 4"/>
          <p:cNvSpPr>
            <a:spLocks noGrp="1"/>
          </p:cNvSpPr>
          <p:nvPr>
            <p:ph type="sldNum" sz="quarter" idx="3"/>
          </p:nvPr>
        </p:nvSpPr>
        <p:spPr>
          <a:xfrm>
            <a:off x="4162784" y="10879875"/>
            <a:ext cx="3184606" cy="574718"/>
          </a:xfrm>
          <a:prstGeom prst="rect">
            <a:avLst/>
          </a:prstGeom>
        </p:spPr>
        <p:txBody>
          <a:bodyPr vert="horz" lIns="91440" tIns="45720" rIns="91440" bIns="45720" rtlCol="0" anchor="b"/>
          <a:lstStyle>
            <a:lvl1pPr algn="r">
              <a:defRPr sz="128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A7AD11B9-2970-4A08-9453-0B104866362C}" type="datetimeFigureOut">
              <a:rPr lang="zh-CN" altLang="en-US" smtClean="0"/>
              <a:t>2025/7/9</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E4E2C070-4EB3-4067-93F2-D631B1A7832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 name="image 102">
            <a:extLst>
              <a:ext uri="{FF2B5EF4-FFF2-40B4-BE49-F238E27FC236}">
                <a16:creationId xmlns:a16="http://schemas.microsoft.com/office/drawing/2014/main" id="{F6F639F4-374E-E820-BEE9-24D988690B5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Effect>
                      <a14:saturation sat="400000"/>
                    </a14:imgEffect>
                  </a14:imgLayer>
                </a14:imgProps>
              </a:ext>
            </a:extLst>
          </a:blip>
          <a:srcRect/>
          <a:stretch>
            <a:fillRect/>
          </a:stretch>
        </p:blipFill>
        <p:spPr>
          <a:xfrm>
            <a:off x="7505180" y="0"/>
            <a:ext cx="1362595" cy="4633998"/>
          </a:xfrm>
          <a:prstGeom prst="rect">
            <a:avLst/>
          </a:prstGeom>
        </p:spPr>
      </p:pic>
      <p:pic>
        <p:nvPicPr>
          <p:cNvPr id="4" name="image 102">
            <a:extLst>
              <a:ext uri="{FF2B5EF4-FFF2-40B4-BE49-F238E27FC236}">
                <a16:creationId xmlns:a16="http://schemas.microsoft.com/office/drawing/2014/main" id="{3E48920A-628D-1E00-080D-26755B423E6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Effect>
                      <a14:saturation sat="400000"/>
                    </a14:imgEffect>
                  </a14:imgLayer>
                </a14:imgProps>
              </a:ext>
            </a:extLst>
          </a:blip>
          <a:srcRect/>
          <a:stretch>
            <a:fillRect/>
          </a:stretch>
        </p:blipFill>
        <p:spPr>
          <a:xfrm>
            <a:off x="10712709" y="3460794"/>
            <a:ext cx="998925" cy="3397206"/>
          </a:xfrm>
          <a:prstGeom prst="rect">
            <a:avLst/>
          </a:prstGeom>
        </p:spPr>
      </p:pic>
      <p:sp>
        <p:nvSpPr>
          <p:cNvPr id="5" name="Object 105">
            <a:extLst>
              <a:ext uri="{FF2B5EF4-FFF2-40B4-BE49-F238E27FC236}">
                <a16:creationId xmlns:a16="http://schemas.microsoft.com/office/drawing/2014/main" id="{004671BF-5163-8CF7-3492-D32F68F538B1}"/>
              </a:ext>
            </a:extLst>
          </p:cNvPr>
          <p:cNvSpPr txBox="1"/>
          <p:nvPr userDrawn="1"/>
        </p:nvSpPr>
        <p:spPr>
          <a:xfrm>
            <a:off x="358798" y="3674895"/>
            <a:ext cx="1386875" cy="352703"/>
          </a:xfrm>
          <a:prstGeom prst="rect">
            <a:avLst/>
          </a:prstGeom>
        </p:spPr>
        <p:txBody>
          <a:bodyPr vert="horz" lIns="0" tIns="0" rIns="0" bIns="0" rtlCol="0" anchor="t" anchorCtr="0">
            <a:noAutofit/>
          </a:bodyPr>
          <a:lstStyle/>
          <a:p>
            <a:pPr algn="l">
              <a:lnSpc>
                <a:spcPct val="103000"/>
              </a:lnSpc>
            </a:pPr>
            <a:r>
              <a:rPr lang="en-US" altLang="zh-CN" sz="2000" spc="225" dirty="0">
                <a:solidFill>
                  <a:srgbClr val="C82126"/>
                </a:solidFill>
                <a:latin typeface="思源宋体 CN Heavy" panose="02020900000000000000" pitchFamily="18" charset="-122"/>
                <a:ea typeface="思源宋体 CN Heavy" panose="02020900000000000000" pitchFamily="18" charset="-122"/>
              </a:rPr>
              <a:t>Polyester</a:t>
            </a:r>
            <a:endParaRPr lang="zh-CN" altLang="en-US" sz="200" dirty="0">
              <a:solidFill>
                <a:srgbClr val="C82126"/>
              </a:solidFill>
              <a:latin typeface="思源宋体 CN Heavy" panose="02020900000000000000" pitchFamily="18" charset="-122"/>
              <a:ea typeface="思源宋体 CN Heavy" panose="02020900000000000000" pitchFamily="18" charset="-122"/>
            </a:endParaRPr>
          </a:p>
        </p:txBody>
      </p:sp>
      <p:sp>
        <p:nvSpPr>
          <p:cNvPr id="6" name="平行四边形 5">
            <a:extLst>
              <a:ext uri="{FF2B5EF4-FFF2-40B4-BE49-F238E27FC236}">
                <a16:creationId xmlns:a16="http://schemas.microsoft.com/office/drawing/2014/main" id="{0FAEB3AE-D256-63FC-6E84-868B1B5E298B}"/>
              </a:ext>
            </a:extLst>
          </p:cNvPr>
          <p:cNvSpPr/>
          <p:nvPr userDrawn="1"/>
        </p:nvSpPr>
        <p:spPr>
          <a:xfrm>
            <a:off x="7401911" y="8092"/>
            <a:ext cx="4559635" cy="6858000"/>
          </a:xfrm>
          <a:prstGeom prst="parallelogram">
            <a:avLst>
              <a:gd name="adj" fmla="val 21256"/>
            </a:avLst>
          </a:prstGeom>
          <a:blipFill>
            <a:blip r:embed="rId4">
              <a:extLst>
                <a:ext uri="{BEBA8EAE-BF5A-486C-A8C5-ECC9F3942E4B}">
                  <a14:imgProps xmlns:a14="http://schemas.microsoft.com/office/drawing/2010/main">
                    <a14:imgLayer r:embed="rId5">
                      <a14:imgEffect>
                        <a14:colorTemperature colorTemp="112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5"/>
          </a:p>
        </p:txBody>
      </p:sp>
      <p:sp>
        <p:nvSpPr>
          <p:cNvPr id="7" name="文本框 6">
            <a:extLst>
              <a:ext uri="{FF2B5EF4-FFF2-40B4-BE49-F238E27FC236}">
                <a16:creationId xmlns:a16="http://schemas.microsoft.com/office/drawing/2014/main" id="{F11C8BEC-C707-C5A1-6A01-EA2DE45A9306}"/>
              </a:ext>
            </a:extLst>
          </p:cNvPr>
          <p:cNvSpPr txBox="1"/>
          <p:nvPr userDrawn="1"/>
        </p:nvSpPr>
        <p:spPr>
          <a:xfrm>
            <a:off x="358797" y="6443410"/>
            <a:ext cx="6927219" cy="307777"/>
          </a:xfrm>
          <a:prstGeom prst="rect">
            <a:avLst/>
          </a:prstGeom>
          <a:noFill/>
        </p:spPr>
        <p:txBody>
          <a:bodyPr wrap="square" rtlCol="0">
            <a:spAutoFit/>
          </a:bodyPr>
          <a:lstStyle/>
          <a:p>
            <a:pPr fontAlgn="base"/>
            <a:r>
              <a:rPr lang="en-US" altLang="zh-CN" sz="1400" b="1" dirty="0"/>
              <a:t>We has lawfully obtained the qualification for futures trading advisory business</a:t>
            </a:r>
            <a:r>
              <a:rPr lang="en-US" altLang="zh-CN" sz="1100" b="1" dirty="0"/>
              <a:t>.</a:t>
            </a:r>
            <a:endParaRPr lang="en-US" altLang="zh-CN" sz="1400" b="1" dirty="0"/>
          </a:p>
        </p:txBody>
      </p:sp>
      <p:sp>
        <p:nvSpPr>
          <p:cNvPr id="8" name="文本框 7">
            <a:extLst>
              <a:ext uri="{FF2B5EF4-FFF2-40B4-BE49-F238E27FC236}">
                <a16:creationId xmlns:a16="http://schemas.microsoft.com/office/drawing/2014/main" id="{A2A013EE-621E-D5BF-FA4F-D0967A8912B9}"/>
              </a:ext>
            </a:extLst>
          </p:cNvPr>
          <p:cNvSpPr txBox="1"/>
          <p:nvPr userDrawn="1"/>
        </p:nvSpPr>
        <p:spPr>
          <a:xfrm>
            <a:off x="2812203" y="4905407"/>
            <a:ext cx="3720799" cy="688202"/>
          </a:xfrm>
          <a:prstGeom prst="rect">
            <a:avLst/>
          </a:prstGeom>
          <a:noFill/>
        </p:spPr>
        <p:txBody>
          <a:bodyPr wrap="square" rtlCol="0">
            <a:spAutoFit/>
          </a:bodyPr>
          <a:lstStyle/>
          <a:p>
            <a:pPr>
              <a:lnSpc>
                <a:spcPct val="150000"/>
              </a:lnSpc>
            </a:pPr>
            <a:r>
              <a:rPr lang="en-US" altLang="zh-CN" sz="1400" dirty="0">
                <a:latin typeface="黑体" panose="02010609060101010101" pitchFamily="49" charset="-122"/>
                <a:ea typeface="黑体" panose="02010609060101010101" pitchFamily="49" charset="-122"/>
              </a:rPr>
              <a:t>Reviewed by​​:</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XIAO LANLAN</a:t>
            </a:r>
          </a:p>
          <a:p>
            <a:pPr>
              <a:lnSpc>
                <a:spcPct val="150000"/>
              </a:lnSpc>
            </a:pPr>
            <a:r>
              <a:rPr lang="en-US" altLang="zh-CN" sz="1400" dirty="0">
                <a:latin typeface="黑体" panose="02010609060101010101" pitchFamily="49" charset="-122"/>
                <a:ea typeface="黑体" panose="02010609060101010101" pitchFamily="49" charset="-122"/>
              </a:rPr>
              <a:t>TCQC No</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Z0013951</a:t>
            </a:r>
          </a:p>
        </p:txBody>
      </p:sp>
      <p:pic>
        <p:nvPicPr>
          <p:cNvPr id="9" name="图片 8">
            <a:extLst>
              <a:ext uri="{FF2B5EF4-FFF2-40B4-BE49-F238E27FC236}">
                <a16:creationId xmlns:a16="http://schemas.microsoft.com/office/drawing/2014/main" id="{A30657F2-58E7-0681-94BF-3ED4F0F6156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58798" y="414590"/>
            <a:ext cx="2453405" cy="817224"/>
          </a:xfrm>
          <a:prstGeom prst="rect">
            <a:avLst/>
          </a:prstGeom>
        </p:spPr>
      </p:pic>
      <p:sp>
        <p:nvSpPr>
          <p:cNvPr id="10" name="矩形 9">
            <a:extLst>
              <a:ext uri="{FF2B5EF4-FFF2-40B4-BE49-F238E27FC236}">
                <a16:creationId xmlns:a16="http://schemas.microsoft.com/office/drawing/2014/main" id="{2DF0DFF2-9EBB-864C-FC3B-5BBC4C0B9635}"/>
              </a:ext>
            </a:extLst>
          </p:cNvPr>
          <p:cNvSpPr/>
          <p:nvPr userDrawn="1"/>
        </p:nvSpPr>
        <p:spPr>
          <a:xfrm flipV="1">
            <a:off x="358798" y="4043412"/>
            <a:ext cx="2952000" cy="58454"/>
          </a:xfrm>
          <a:prstGeom prst="rect">
            <a:avLst/>
          </a:prstGeom>
          <a:solidFill>
            <a:srgbClr val="C82126"/>
          </a:solidFill>
          <a:effectLst/>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E5BBEA8-4924-58D7-2A64-533CE6AB33BA}"/>
              </a:ext>
            </a:extLst>
          </p:cNvPr>
          <p:cNvSpPr txBox="1"/>
          <p:nvPr userDrawn="1"/>
        </p:nvSpPr>
        <p:spPr>
          <a:xfrm>
            <a:off x="358798" y="4888001"/>
            <a:ext cx="3301039" cy="1710853"/>
          </a:xfrm>
          <a:prstGeom prst="rect">
            <a:avLst/>
          </a:prstGeom>
          <a:noFill/>
        </p:spPr>
        <p:txBody>
          <a:bodyPr wrap="square" rtlCol="0">
            <a:spAutoFit/>
          </a:bodyPr>
          <a:lstStyle/>
          <a:p>
            <a:pPr>
              <a:lnSpc>
                <a:spcPct val="150000"/>
              </a:lnSpc>
            </a:pPr>
            <a:r>
              <a:rPr lang="en-US" altLang="zh-CN" sz="1400" dirty="0">
                <a:latin typeface="黑体" panose="02010609060101010101" pitchFamily="49" charset="-122"/>
                <a:ea typeface="黑体" panose="02010609060101010101" pitchFamily="49" charset="-122"/>
              </a:rPr>
              <a:t>Author</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LIU SIQI</a:t>
            </a:r>
          </a:p>
          <a:p>
            <a:pPr>
              <a:lnSpc>
                <a:spcPct val="150000"/>
              </a:lnSpc>
            </a:pPr>
            <a:r>
              <a:rPr lang="en-US" altLang="zh-CN" sz="1400" dirty="0">
                <a:latin typeface="黑体" panose="02010609060101010101" pitchFamily="49" charset="-122"/>
                <a:ea typeface="黑体" panose="02010609060101010101" pitchFamily="49" charset="-122"/>
              </a:rPr>
              <a:t>FQC No</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F3083559</a:t>
            </a:r>
          </a:p>
          <a:p>
            <a:pPr>
              <a:lnSpc>
                <a:spcPct val="150000"/>
              </a:lnSpc>
            </a:pPr>
            <a:r>
              <a:rPr lang="en-US" altLang="zh-CN" sz="1400" dirty="0">
                <a:latin typeface="黑体" panose="02010609060101010101" pitchFamily="49" charset="-122"/>
                <a:ea typeface="黑体" panose="02010609060101010101" pitchFamily="49" charset="-122"/>
              </a:rPr>
              <a:t>TCQC No</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Z0016260</a:t>
            </a:r>
          </a:p>
          <a:p>
            <a:pPr>
              <a:lnSpc>
                <a:spcPct val="150000"/>
              </a:lnSpc>
            </a:pPr>
            <a:r>
              <a:rPr lang="en-US" altLang="zh-CN" sz="1400" dirty="0">
                <a:latin typeface="黑体" panose="02010609060101010101" pitchFamily="49" charset="-122"/>
                <a:ea typeface="黑体" panose="02010609060101010101" pitchFamily="49" charset="-122"/>
              </a:rPr>
              <a:t>Email</a:t>
            </a:r>
            <a:r>
              <a:rPr lang="zh-CN" altLang="en-US" sz="1400"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liusiqi@zjtfqh.com</a:t>
            </a:r>
          </a:p>
          <a:p>
            <a:pPr>
              <a:lnSpc>
                <a:spcPct val="150000"/>
              </a:lnSpc>
            </a:pPr>
            <a:endParaRPr lang="zh-CN" altLang="en-US" sz="16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9" name="文本占位符 18">
            <a:extLst>
              <a:ext uri="{FF2B5EF4-FFF2-40B4-BE49-F238E27FC236}">
                <a16:creationId xmlns:a16="http://schemas.microsoft.com/office/drawing/2014/main" id="{E53A0AC3-48DC-6F7C-BD2E-7A02998CD3EB}"/>
              </a:ext>
            </a:extLst>
          </p:cNvPr>
          <p:cNvSpPr>
            <a:spLocks noGrp="1"/>
          </p:cNvSpPr>
          <p:nvPr>
            <p:ph type="body" sz="quarter" idx="10" hasCustomPrompt="1"/>
          </p:nvPr>
        </p:nvSpPr>
        <p:spPr>
          <a:xfrm>
            <a:off x="1848942" y="3674784"/>
            <a:ext cx="1966600" cy="352704"/>
          </a:xfrm>
          <a:prstGeom prst="rect">
            <a:avLst/>
          </a:prstGeom>
        </p:spPr>
        <p:txBody>
          <a:bodyPr/>
          <a:lstStyle>
            <a:lvl1pPr marL="0" indent="0">
              <a:buNone/>
              <a:defRPr lang="zh-CN" altLang="en-US" sz="2000" kern="1200" spc="225" dirty="0">
                <a:solidFill>
                  <a:srgbClr val="C82126"/>
                </a:solidFill>
                <a:latin typeface="思源宋体 CN Heavy" panose="02020900000000000000" pitchFamily="18" charset="-122"/>
                <a:ea typeface="思源宋体 CN Heavy" panose="02020900000000000000" pitchFamily="18" charset="-122"/>
                <a:cs typeface="+mn-cs"/>
              </a:defRPr>
            </a:lvl1pPr>
          </a:lstStyle>
          <a:p>
            <a:pPr lvl="0"/>
            <a:r>
              <a:rPr lang="en-US" altLang="zh-CN" dirty="0"/>
              <a:t>date</a:t>
            </a:r>
            <a:endParaRPr lang="zh-CN" altLang="en-US" dirty="0"/>
          </a:p>
        </p:txBody>
      </p:sp>
      <p:sp>
        <p:nvSpPr>
          <p:cNvPr id="21" name="文本占位符 20">
            <a:extLst>
              <a:ext uri="{FF2B5EF4-FFF2-40B4-BE49-F238E27FC236}">
                <a16:creationId xmlns:a16="http://schemas.microsoft.com/office/drawing/2014/main" id="{5BCD1992-3103-5DB6-21CF-C44BBF259DDE}"/>
              </a:ext>
            </a:extLst>
          </p:cNvPr>
          <p:cNvSpPr>
            <a:spLocks noGrp="1"/>
          </p:cNvSpPr>
          <p:nvPr>
            <p:ph type="body" sz="quarter" idx="11" hasCustomPrompt="1"/>
          </p:nvPr>
        </p:nvSpPr>
        <p:spPr>
          <a:xfrm>
            <a:off x="241813" y="1920875"/>
            <a:ext cx="7572375" cy="1446213"/>
          </a:xfrm>
          <a:prstGeom prst="rect">
            <a:avLst/>
          </a:prstGeom>
        </p:spPr>
        <p:txBody>
          <a:bodyPr/>
          <a:lstStyle>
            <a:lvl1pPr marL="0" indent="0">
              <a:buNone/>
              <a:defRPr lang="zh-CN" altLang="en-US" sz="2800" kern="1200" dirty="0">
                <a:solidFill>
                  <a:schemeClr val="tx1"/>
                </a:solidFill>
                <a:latin typeface="思源宋体 CN Heavy" panose="02020900000000000000" pitchFamily="18" charset="-122"/>
                <a:ea typeface="思源宋体 CN Heavy" panose="02020900000000000000" pitchFamily="18" charset="-122"/>
                <a:cs typeface="+mn-cs"/>
              </a:defRPr>
            </a:lvl1pPr>
          </a:lstStyle>
          <a:p>
            <a:pPr lvl="0"/>
            <a:r>
              <a:rPr lang="en-US" altLang="zh-CN" dirty="0"/>
              <a:t>title</a:t>
            </a:r>
            <a:endParaRPr lang="zh-CN" altLang="en-US" dirty="0"/>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8A273F2-26B8-4177-5C98-801D16B270D5}"/>
              </a:ext>
            </a:extLst>
          </p:cNvPr>
          <p:cNvSpPr txBox="1"/>
          <p:nvPr userDrawn="1"/>
        </p:nvSpPr>
        <p:spPr>
          <a:xfrm>
            <a:off x="2618509" y="1354975"/>
            <a:ext cx="1537855" cy="369332"/>
          </a:xfrm>
          <a:prstGeom prst="rect">
            <a:avLst/>
          </a:prstGeom>
          <a:noFill/>
        </p:spPr>
        <p:txBody>
          <a:bodyPr wrap="square" rtlCol="0">
            <a:spAutoFit/>
          </a:bodyPr>
          <a:lstStyle/>
          <a:p>
            <a:r>
              <a:rPr lang="en-US" altLang="zh-CN" dirty="0"/>
              <a:t>1-222</a:t>
            </a:r>
            <a:endParaRPr lang="zh-CN" altLang="en-US" dirty="0"/>
          </a:p>
        </p:txBody>
      </p:sp>
      <p:sp>
        <p:nvSpPr>
          <p:cNvPr id="2" name="矩形 1">
            <a:extLst>
              <a:ext uri="{FF2B5EF4-FFF2-40B4-BE49-F238E27FC236}">
                <a16:creationId xmlns:a16="http://schemas.microsoft.com/office/drawing/2014/main" id="{31C9517B-6319-5CF9-F14D-61A655FFCAE2}"/>
              </a:ext>
            </a:extLst>
          </p:cNvPr>
          <p:cNvSpPr/>
          <p:nvPr userDrawn="1"/>
        </p:nvSpPr>
        <p:spPr>
          <a:xfrm>
            <a:off x="733716" y="284558"/>
            <a:ext cx="2058121" cy="523220"/>
          </a:xfrm>
          <a:prstGeom prst="rect">
            <a:avLst/>
          </a:prstGeom>
        </p:spPr>
        <p:txBody>
          <a:bodyPr vert="horz" lIns="91440" tIns="45720" rIns="91440" bIns="45720" rtlCol="0" anchor="ctr">
            <a:normAutofit/>
          </a:bodyPr>
          <a:lstStyle/>
          <a:p>
            <a:pPr>
              <a:lnSpc>
                <a:spcPct val="90000"/>
              </a:lnSpc>
              <a:spcBef>
                <a:spcPct val="0"/>
              </a:spcBef>
            </a:pPr>
            <a:r>
              <a:rPr lang="zh-CN" altLang="en-US" sz="2800" b="1" dirty="0">
                <a:solidFill>
                  <a:srgbClr val="C00000"/>
                </a:solidFill>
                <a:latin typeface="思源宋体 CN Heavy" panose="02020900000000000000" pitchFamily="18" charset="-122"/>
                <a:ea typeface="思源宋体 CN Heavy" panose="02020900000000000000" pitchFamily="18" charset="-122"/>
                <a:cs typeface="+mj-cs"/>
              </a:rPr>
              <a:t>Summary</a:t>
            </a:r>
          </a:p>
        </p:txBody>
      </p:sp>
      <p:pic>
        <p:nvPicPr>
          <p:cNvPr id="3" name="图片 2">
            <a:extLst>
              <a:ext uri="{FF2B5EF4-FFF2-40B4-BE49-F238E27FC236}">
                <a16:creationId xmlns:a16="http://schemas.microsoft.com/office/drawing/2014/main" id="{B39DE9D5-788D-2A34-6EA6-776C5079706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文本占位符 5">
            <a:extLst>
              <a:ext uri="{FF2B5EF4-FFF2-40B4-BE49-F238E27FC236}">
                <a16:creationId xmlns:a16="http://schemas.microsoft.com/office/drawing/2014/main" id="{B71BF2A7-6AAE-69FC-99C1-24C29F05B4E0}"/>
              </a:ext>
            </a:extLst>
          </p:cNvPr>
          <p:cNvSpPr>
            <a:spLocks noGrp="1"/>
          </p:cNvSpPr>
          <p:nvPr>
            <p:ph type="body" sz="quarter" idx="10" hasCustomPrompt="1"/>
          </p:nvPr>
        </p:nvSpPr>
        <p:spPr>
          <a:xfrm>
            <a:off x="257175" y="200025"/>
            <a:ext cx="9077325" cy="722313"/>
          </a:xfrm>
          <a:prstGeom prst="rect">
            <a:avLst/>
          </a:prstGeom>
        </p:spPr>
        <p:txBody>
          <a:bodyPr anchor="ctr"/>
          <a:lstStyle>
            <a:lvl1pPr marL="0" indent="0" algn="l" defTabSz="914400" rtl="0" eaLnBrk="1" latinLnBrk="0" hangingPunct="1">
              <a:lnSpc>
                <a:spcPct val="90000"/>
              </a:lnSpc>
              <a:spcBef>
                <a:spcPct val="0"/>
              </a:spcBef>
              <a:buNone/>
              <a:defRPr lang="zh-CN" altLang="en-US" sz="2800" kern="1200" dirty="0">
                <a:solidFill>
                  <a:srgbClr val="C00000"/>
                </a:solidFill>
                <a:latin typeface="宋体" panose="02010600030101010101" pitchFamily="2" charset="-122"/>
                <a:ea typeface="宋体" panose="02010600030101010101" pitchFamily="2" charset="-122"/>
                <a:cs typeface="+mj-cs"/>
              </a:defRPr>
            </a:lvl1pPr>
          </a:lstStyle>
          <a:p>
            <a:pPr lvl="0"/>
            <a:r>
              <a:rPr lang="en-US" altLang="zh-CN" dirty="0"/>
              <a:t>title</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8A273F2-26B8-4177-5C98-801D16B270D5}"/>
              </a:ext>
            </a:extLst>
          </p:cNvPr>
          <p:cNvSpPr txBox="1"/>
          <p:nvPr userDrawn="1"/>
        </p:nvSpPr>
        <p:spPr>
          <a:xfrm>
            <a:off x="2618509" y="1354975"/>
            <a:ext cx="1537855" cy="369332"/>
          </a:xfrm>
          <a:prstGeom prst="rect">
            <a:avLst/>
          </a:prstGeom>
          <a:noFill/>
        </p:spPr>
        <p:txBody>
          <a:bodyPr wrap="square" rtlCol="0">
            <a:spAutoFit/>
          </a:bodyPr>
          <a:lstStyle/>
          <a:p>
            <a:r>
              <a:rPr lang="en-US" altLang="zh-CN" dirty="0"/>
              <a:t>1-222</a:t>
            </a:r>
            <a:endParaRPr lang="zh-CN" altLang="en-US" dirty="0"/>
          </a:p>
        </p:txBody>
      </p:sp>
      <p:sp>
        <p:nvSpPr>
          <p:cNvPr id="2" name="矩形 1">
            <a:extLst>
              <a:ext uri="{FF2B5EF4-FFF2-40B4-BE49-F238E27FC236}">
                <a16:creationId xmlns:a16="http://schemas.microsoft.com/office/drawing/2014/main" id="{31C9517B-6319-5CF9-F14D-61A655FFCAE2}"/>
              </a:ext>
            </a:extLst>
          </p:cNvPr>
          <p:cNvSpPr/>
          <p:nvPr userDrawn="1"/>
        </p:nvSpPr>
        <p:spPr>
          <a:xfrm>
            <a:off x="733716" y="284558"/>
            <a:ext cx="2058121" cy="523220"/>
          </a:xfrm>
          <a:prstGeom prst="rect">
            <a:avLst/>
          </a:prstGeom>
        </p:spPr>
        <p:txBody>
          <a:bodyPr vert="horz" lIns="91440" tIns="45720" rIns="91440" bIns="45720" rtlCol="0" anchor="ctr">
            <a:normAutofit/>
          </a:bodyPr>
          <a:lstStyle/>
          <a:p>
            <a:pPr>
              <a:lnSpc>
                <a:spcPct val="90000"/>
              </a:lnSpc>
              <a:spcBef>
                <a:spcPct val="0"/>
              </a:spcBef>
            </a:pPr>
            <a:r>
              <a:rPr lang="zh-CN" altLang="en-US" sz="2800" b="1" dirty="0">
                <a:solidFill>
                  <a:srgbClr val="C00000"/>
                </a:solidFill>
                <a:latin typeface="思源宋体 CN Heavy" panose="02020900000000000000" pitchFamily="18" charset="-122"/>
                <a:ea typeface="思源宋体 CN Heavy" panose="02020900000000000000" pitchFamily="18" charset="-122"/>
                <a:cs typeface="+mj-cs"/>
              </a:rPr>
              <a:t>Summary</a:t>
            </a:r>
          </a:p>
        </p:txBody>
      </p:sp>
      <p:pic>
        <p:nvPicPr>
          <p:cNvPr id="3" name="图片 2">
            <a:extLst>
              <a:ext uri="{FF2B5EF4-FFF2-40B4-BE49-F238E27FC236}">
                <a16:creationId xmlns:a16="http://schemas.microsoft.com/office/drawing/2014/main" id="{B39DE9D5-788D-2A34-6EA6-776C5079706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矩形 4">
            <a:extLst>
              <a:ext uri="{FF2B5EF4-FFF2-40B4-BE49-F238E27FC236}">
                <a16:creationId xmlns:a16="http://schemas.microsoft.com/office/drawing/2014/main" id="{CBD19F2E-F5E6-7E64-A8DA-CB542F784F27}"/>
              </a:ext>
            </a:extLst>
          </p:cNvPr>
          <p:cNvSpPr/>
          <p:nvPr userDrawn="1"/>
        </p:nvSpPr>
        <p:spPr>
          <a:xfrm>
            <a:off x="720603" y="1264759"/>
            <a:ext cx="10459720" cy="4431983"/>
          </a:xfrm>
          <a:prstGeom prst="rect">
            <a:avLst/>
          </a:prstGeom>
          <a:noFill/>
          <a:ln w="12700" cap="flat" cmpd="sng" algn="ctr">
            <a:noFill/>
            <a:prstDash val="solid"/>
            <a:miter lim="800000"/>
          </a:ln>
          <a:effectLst/>
        </p:spPr>
        <p:txBody>
          <a:bodyPr rot="0" spcFirstLastPara="0" vert="horz" wrap="square" lIns="0" tIns="0" rIns="0" bIns="0" numCol="1" spcCol="0" rtlCol="0" fromWordArt="0" anchor="t" anchorCtr="0" forceAA="0" compatLnSpc="1">
            <a:spAutoFit/>
          </a:bodyPr>
          <a:lstStyle/>
          <a:p>
            <a:pPr fontAlgn="base"/>
            <a:r>
              <a:rPr lang="en-US" altLang="zh-CN" sz="1600" dirty="0"/>
              <a:t>Other than disclosures relating to ​​Zijin </a:t>
            </a:r>
            <a:r>
              <a:rPr lang="en-US" altLang="zh-CN" sz="1600" dirty="0" err="1"/>
              <a:t>Tianfeng</a:t>
            </a:r>
            <a:r>
              <a:rPr lang="en-US" altLang="zh-CN" sz="1600" dirty="0"/>
              <a:t> Futures Co., Ltd.​​ , this research is based on current public information that we consider reliable, but we do not represent it is accurate or complete, and it should not be relied on as such. The information, opinions, estimates and forecasts contained herein are as of the date hereof and are subject to change without prior notification. We seek to update our research as appropriate, but various regulations may prevent us from doing so. Other than certain industry reports published on a periodic basis, the large majority of reports are published at irregular intervals as appropriate in the analyst’s judgment.</a:t>
            </a:r>
          </a:p>
          <a:p>
            <a:pPr fontAlgn="base"/>
            <a:r>
              <a:rPr lang="en-US" altLang="zh-CN" sz="1600" dirty="0"/>
              <a:t>The copyright of this report is exclusively owned by  the Company. No individual may alter, transmit, reproduce, copy, or disseminate any part of this report in any form without the Company's prior written authorization.</a:t>
            </a:r>
            <a:br>
              <a:rPr lang="en-US" altLang="zh-CN" sz="1600" dirty="0"/>
            </a:br>
            <a:r>
              <a:rPr lang="en-US" altLang="zh-CN" sz="1600" dirty="0"/>
              <a:t>​​Any citation or publication must attribute the source to Zijin </a:t>
            </a:r>
            <a:r>
              <a:rPr lang="en-US" altLang="zh-CN" sz="1600" dirty="0" err="1"/>
              <a:t>Tianfeng</a:t>
            </a:r>
            <a:r>
              <a:rPr lang="en-US" altLang="zh-CN" sz="1600" dirty="0"/>
              <a:t> Futures Co., Ltd., and shall not involve misrepresentative citation, abridgement, or modification of the original content.​​</a:t>
            </a:r>
          </a:p>
          <a:p>
            <a:pPr fontAlgn="base"/>
            <a:r>
              <a:rPr lang="en-US" altLang="zh-CN" sz="1600" dirty="0"/>
              <a:t>This report is based on publicly available information or field research data deemed reliable by the Company and its researchers. It solely reflects the perspectives, analyses, and methodologies of the report's authors. ​​The Company makes no warranties regarding the accuracy, completeness, or timeliness of the information herein, nor does it guarantee that such information will remain unchanged.​​</a:t>
            </a:r>
            <a:br>
              <a:rPr lang="en-US" altLang="zh-CN" sz="1600" dirty="0"/>
            </a:br>
            <a:r>
              <a:rPr lang="en-US" altLang="zh-CN" sz="1600" dirty="0"/>
              <a:t>The content and opinions expressed in this report are for reference only and ​​shall not be construed as final recommendations for any investment, legal, accounting, or tax-related actions.​​ The Company assumes no liability for any operational decisions derived from this report. ​​Investors acting upon this report acknowledge that neither the Company nor the authors bear responsibility for resulting investment outcomes.​</a:t>
            </a:r>
          </a:p>
        </p:txBody>
      </p:sp>
      <p:sp>
        <p:nvSpPr>
          <p:cNvPr id="6" name="文本框 5">
            <a:extLst>
              <a:ext uri="{FF2B5EF4-FFF2-40B4-BE49-F238E27FC236}">
                <a16:creationId xmlns:a16="http://schemas.microsoft.com/office/drawing/2014/main" id="{ECFD6B07-AF49-A62A-3B09-3592F305CBF7}"/>
              </a:ext>
            </a:extLst>
          </p:cNvPr>
          <p:cNvSpPr txBox="1"/>
          <p:nvPr userDrawn="1"/>
        </p:nvSpPr>
        <p:spPr>
          <a:xfrm>
            <a:off x="640080" y="236607"/>
            <a:ext cx="7539644" cy="523220"/>
          </a:xfrm>
          <a:prstGeom prst="rect">
            <a:avLst/>
          </a:prstGeom>
          <a:noFill/>
        </p:spPr>
        <p:txBody>
          <a:bodyPr wrap="square" rtlCol="0">
            <a:spAutoFit/>
          </a:bodyPr>
          <a:lstStyle/>
          <a:p>
            <a:r>
              <a:rPr lang="en-US" altLang="zh-CN" sz="2800" b="1" kern="1200" dirty="0">
                <a:solidFill>
                  <a:srgbClr val="C00000"/>
                </a:solidFill>
                <a:latin typeface="思源宋体 CN Heavy" panose="02020900000000000000" pitchFamily="18" charset="-122"/>
                <a:ea typeface="思源宋体 CN Heavy" panose="02020900000000000000" pitchFamily="18" charset="-122"/>
                <a:cs typeface="+mj-cs"/>
              </a:rPr>
              <a:t>Disclaimer</a:t>
            </a:r>
            <a:endParaRPr lang="zh-CN" altLang="en-US" sz="2800" b="1" kern="1200" dirty="0">
              <a:solidFill>
                <a:srgbClr val="C00000"/>
              </a:solidFill>
              <a:ea typeface="思源宋体 CN Heavy" panose="02020900000000000000" pitchFamily="18" charset="-122"/>
              <a:cs typeface="+mj-cs"/>
            </a:endParaRPr>
          </a:p>
        </p:txBody>
      </p:sp>
    </p:spTree>
    <p:extLst>
      <p:ext uri="{BB962C8B-B14F-4D97-AF65-F5344CB8AC3E}">
        <p14:creationId xmlns:p14="http://schemas.microsoft.com/office/powerpoint/2010/main" val="4146695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Object 105">
            <a:extLst>
              <a:ext uri="{FF2B5EF4-FFF2-40B4-BE49-F238E27FC236}">
                <a16:creationId xmlns:a16="http://schemas.microsoft.com/office/drawing/2014/main" id="{A624A30B-50F5-A791-82F0-11D63A94CBA5}"/>
              </a:ext>
            </a:extLst>
          </p:cNvPr>
          <p:cNvSpPr txBox="1"/>
          <p:nvPr userDrawn="1"/>
        </p:nvSpPr>
        <p:spPr>
          <a:xfrm>
            <a:off x="383471" y="3670370"/>
            <a:ext cx="4732907" cy="292268"/>
          </a:xfrm>
          <a:prstGeom prst="rect">
            <a:avLst/>
          </a:prstGeom>
        </p:spPr>
        <p:txBody>
          <a:bodyPr vert="horz" lIns="0" tIns="0" rIns="0" bIns="0" rtlCol="0" anchor="t" anchorCtr="0">
            <a:noAutofit/>
          </a:bodyPr>
          <a:lstStyle/>
          <a:p>
            <a:pPr algn="l">
              <a:lnSpc>
                <a:spcPct val="103000"/>
              </a:lnSpc>
            </a:pPr>
            <a:r>
              <a:rPr lang="en-US" altLang="zh-CN" sz="2000" spc="225" dirty="0">
                <a:solidFill>
                  <a:schemeClr val="bg1">
                    <a:lumMod val="50000"/>
                  </a:schemeClr>
                </a:solidFill>
                <a:latin typeface="黑体" panose="02010609060101010101" pitchFamily="49" charset="-122"/>
                <a:ea typeface="黑体" panose="02010609060101010101" pitchFamily="49" charset="-122"/>
              </a:rPr>
              <a:t>THANKS FOR YOUR ATTENTION</a:t>
            </a:r>
          </a:p>
        </p:txBody>
      </p:sp>
      <p:pic>
        <p:nvPicPr>
          <p:cNvPr id="11" name="image 102">
            <a:extLst>
              <a:ext uri="{FF2B5EF4-FFF2-40B4-BE49-F238E27FC236}">
                <a16:creationId xmlns:a16="http://schemas.microsoft.com/office/drawing/2014/main" id="{316045F2-570E-01DB-790F-91E9904187B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Effect>
                      <a14:saturation sat="400000"/>
                    </a14:imgEffect>
                  </a14:imgLayer>
                </a14:imgProps>
              </a:ext>
            </a:extLst>
          </a:blip>
          <a:srcRect/>
          <a:stretch>
            <a:fillRect/>
          </a:stretch>
        </p:blipFill>
        <p:spPr>
          <a:xfrm>
            <a:off x="7420162" y="0"/>
            <a:ext cx="1362595" cy="4633998"/>
          </a:xfrm>
          <a:prstGeom prst="rect">
            <a:avLst/>
          </a:prstGeom>
        </p:spPr>
      </p:pic>
      <p:sp>
        <p:nvSpPr>
          <p:cNvPr id="12" name="Object 108">
            <a:extLst>
              <a:ext uri="{FF2B5EF4-FFF2-40B4-BE49-F238E27FC236}">
                <a16:creationId xmlns:a16="http://schemas.microsoft.com/office/drawing/2014/main" id="{620E5573-B290-2ED2-E29D-68B4DBC5CA63}"/>
              </a:ext>
            </a:extLst>
          </p:cNvPr>
          <p:cNvSpPr txBox="1"/>
          <p:nvPr userDrawn="1"/>
        </p:nvSpPr>
        <p:spPr>
          <a:xfrm>
            <a:off x="383470" y="2755124"/>
            <a:ext cx="7003869" cy="829328"/>
          </a:xfrm>
          <a:prstGeom prst="rect">
            <a:avLst/>
          </a:prstGeom>
        </p:spPr>
        <p:txBody>
          <a:bodyPr vert="horz" lIns="0" tIns="0" rIns="0" bIns="0" rtlCol="0" anchor="t" anchorCtr="0">
            <a:noAutofit/>
          </a:bodyPr>
          <a:lstStyle/>
          <a:p>
            <a:pPr algn="l">
              <a:lnSpc>
                <a:spcPct val="103000"/>
              </a:lnSpc>
            </a:pPr>
            <a:r>
              <a:rPr lang="en-US" altLang="zh-CN" sz="5400" b="1" spc="600" dirty="0">
                <a:solidFill>
                  <a:srgbClr val="333333"/>
                </a:solidFill>
                <a:latin typeface="思源宋体 CN Heavy" panose="02020900000000000000" pitchFamily="18" charset="-122"/>
                <a:ea typeface="思源宋体 CN Heavy" panose="02020900000000000000" pitchFamily="18" charset="-122"/>
              </a:rPr>
              <a:t>THANKS!</a:t>
            </a:r>
            <a:endParaRPr lang="zh-CN" altLang="en-US" sz="5400" b="1" spc="600" dirty="0">
              <a:solidFill>
                <a:srgbClr val="333333"/>
              </a:solidFill>
              <a:latin typeface="思源宋体 CN Heavy" panose="02020900000000000000" pitchFamily="18" charset="-122"/>
              <a:ea typeface="思源宋体 CN Heavy" panose="02020900000000000000" pitchFamily="18" charset="-122"/>
            </a:endParaRPr>
          </a:p>
        </p:txBody>
      </p:sp>
      <p:pic>
        <p:nvPicPr>
          <p:cNvPr id="13" name="image 102">
            <a:extLst>
              <a:ext uri="{FF2B5EF4-FFF2-40B4-BE49-F238E27FC236}">
                <a16:creationId xmlns:a16="http://schemas.microsoft.com/office/drawing/2014/main" id="{EF72B77C-A583-7330-AAD8-BCE3C7E0098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Effect>
                      <a14:saturation sat="400000"/>
                    </a14:imgEffect>
                  </a14:imgLayer>
                </a14:imgProps>
              </a:ext>
            </a:extLst>
          </a:blip>
          <a:srcRect/>
          <a:stretch>
            <a:fillRect/>
          </a:stretch>
        </p:blipFill>
        <p:spPr>
          <a:xfrm>
            <a:off x="10712709" y="3460794"/>
            <a:ext cx="998925" cy="3397206"/>
          </a:xfrm>
          <a:prstGeom prst="rect">
            <a:avLst/>
          </a:prstGeom>
        </p:spPr>
      </p:pic>
      <p:sp>
        <p:nvSpPr>
          <p:cNvPr id="14" name="平行四边形 13">
            <a:extLst>
              <a:ext uri="{FF2B5EF4-FFF2-40B4-BE49-F238E27FC236}">
                <a16:creationId xmlns:a16="http://schemas.microsoft.com/office/drawing/2014/main" id="{220B761D-53AB-227A-E606-93E0D94C2326}"/>
              </a:ext>
            </a:extLst>
          </p:cNvPr>
          <p:cNvSpPr/>
          <p:nvPr userDrawn="1"/>
        </p:nvSpPr>
        <p:spPr>
          <a:xfrm>
            <a:off x="7420162" y="0"/>
            <a:ext cx="4559635" cy="6858000"/>
          </a:xfrm>
          <a:prstGeom prst="parallelogram">
            <a:avLst>
              <a:gd name="adj" fmla="val 21256"/>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5"/>
          </a:p>
        </p:txBody>
      </p:sp>
      <p:pic>
        <p:nvPicPr>
          <p:cNvPr id="15" name="图片 14">
            <a:extLst>
              <a:ext uri="{FF2B5EF4-FFF2-40B4-BE49-F238E27FC236}">
                <a16:creationId xmlns:a16="http://schemas.microsoft.com/office/drawing/2014/main" id="{BF952734-B132-01A0-DA3B-BD67892C9A0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58798" y="414590"/>
            <a:ext cx="2453405" cy="817224"/>
          </a:xfrm>
          <a:prstGeom prst="rect">
            <a:avLst/>
          </a:prstGeom>
        </p:spPr>
      </p:pic>
      <p:sp>
        <p:nvSpPr>
          <p:cNvPr id="16" name="矩形 15">
            <a:extLst>
              <a:ext uri="{FF2B5EF4-FFF2-40B4-BE49-F238E27FC236}">
                <a16:creationId xmlns:a16="http://schemas.microsoft.com/office/drawing/2014/main" id="{85C6A735-1738-23DD-BCD7-295D73125E05}"/>
              </a:ext>
            </a:extLst>
          </p:cNvPr>
          <p:cNvSpPr/>
          <p:nvPr userDrawn="1"/>
        </p:nvSpPr>
        <p:spPr>
          <a:xfrm flipV="1">
            <a:off x="383470" y="4137193"/>
            <a:ext cx="3911439" cy="45719"/>
          </a:xfrm>
          <a:prstGeom prst="rect">
            <a:avLst/>
          </a:prstGeom>
          <a:solidFill>
            <a:srgbClr val="C82126"/>
          </a:solidFill>
          <a:effectLst/>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0388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母版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TotalTime>
  <Words>0</Words>
  <Application>Microsoft Office PowerPoint</Application>
  <PresentationFormat>宽屏</PresentationFormat>
  <Paragraphs>0</Paragraphs>
  <Slides>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0</vt:i4>
      </vt:variant>
    </vt:vector>
  </HeadingPairs>
  <TitlesOfParts>
    <vt:vector size="8" baseType="lpstr">
      <vt:lpstr>等线</vt:lpstr>
      <vt:lpstr>黑体</vt:lpstr>
      <vt:lpstr>思源宋体 CN Heavy</vt:lpstr>
      <vt:lpstr>宋体</vt:lpstr>
      <vt:lpstr>微软雅黑</vt:lpstr>
      <vt:lpstr>Arial</vt:lpstr>
      <vt:lpstr>Calibri</vt:lpstr>
      <vt:lpstr>母版1​​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Robin</dc:creator>
  <cp:lastModifiedBy>kt</cp:lastModifiedBy>
  <cp:revision>8016</cp:revision>
  <cp:lastPrinted>2019-12-03T12:03:00Z</cp:lastPrinted>
  <dcterms:created xsi:type="dcterms:W3CDTF">2019-11-11T09:50:00Z</dcterms:created>
  <dcterms:modified xsi:type="dcterms:W3CDTF">2025-07-09T09:00:20Z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F894FF0387AE4260BFAD6C63FB35F6ED_13</vt:lpwstr>
  </property>
  <property fmtid="{D5CDD505-2E9C-101B-9397-08002B2CF9AE}" pid="3" name="KSOProductBuildVer">
    <vt:lpwstr>2052-12.8.2.18205</vt:lpwstr>
  </property>
</Properties>
</file>